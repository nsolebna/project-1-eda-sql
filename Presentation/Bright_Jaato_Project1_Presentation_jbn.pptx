
<file path=[Content_Types].xml><?xml version="1.0" encoding="utf-8"?>
<Types xmlns="http://schemas.openxmlformats.org/package/2006/content-types">
  <Default Extension="1790736488&amp;semt=ais_hybrid&amp;w=740&amp;q=80" ContentType="image/jpeg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73" r:id="rId4"/>
    <p:sldId id="259" r:id="rId5"/>
    <p:sldId id="274" r:id="rId6"/>
    <p:sldId id="279" r:id="rId7"/>
    <p:sldId id="275" r:id="rId8"/>
    <p:sldId id="276" r:id="rId9"/>
    <p:sldId id="280" r:id="rId10"/>
    <p:sldId id="278" r:id="rId11"/>
    <p:sldId id="272" r:id="rId1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D4VkyfQIi2U+HCCVqOJqswX5b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4658"/>
  </p:normalViewPr>
  <p:slideViewPr>
    <p:cSldViewPr snapToGrid="0">
      <p:cViewPr>
        <p:scale>
          <a:sx n="89" d="100"/>
          <a:sy n="89" d="100"/>
        </p:scale>
        <p:origin x="2896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26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f80bcdfe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g1f80bcdfe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f80bcdfe51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g1f80bcdfe51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35E49955-81FE-050B-E073-052312B4E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89057F86-EF71-D887-326B-ED9D56A916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>
            <a:extLst>
              <a:ext uri="{FF2B5EF4-FFF2-40B4-BE49-F238E27FC236}">
                <a16:creationId xmlns:a16="http://schemas.microsoft.com/office/drawing/2014/main" id="{49F60805-E694-7D56-9539-B787C9AE31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13211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F2818729-DED4-D45F-9975-E2F88D862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BAD90779-CAC0-1915-0F48-44AE486FA2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>
            <a:extLst>
              <a:ext uri="{FF2B5EF4-FFF2-40B4-BE49-F238E27FC236}">
                <a16:creationId xmlns:a16="http://schemas.microsoft.com/office/drawing/2014/main" id="{50579B95-C2E4-A00C-0900-635C6B86F1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6929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51416081-411E-23ED-EB68-DC3F580D3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CCF0CC2A-C959-887E-8EE8-DE828140F5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>
            <a:extLst>
              <a:ext uri="{FF2B5EF4-FFF2-40B4-BE49-F238E27FC236}">
                <a16:creationId xmlns:a16="http://schemas.microsoft.com/office/drawing/2014/main" id="{FEB57595-3589-C4B5-49CA-7DCFA2B64D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344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D3C5B9CC-B5B7-1420-7AD6-AEE7A4CA4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FDF99987-DCE1-504C-1655-E04166CC29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>
            <a:extLst>
              <a:ext uri="{FF2B5EF4-FFF2-40B4-BE49-F238E27FC236}">
                <a16:creationId xmlns:a16="http://schemas.microsoft.com/office/drawing/2014/main" id="{4787D6B2-DE32-75C9-27A7-5E0CDFC090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18920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92D227DD-BF5B-37CE-0A54-CDB4C55E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C45CDA15-2CF4-5526-55DC-3BAFDC4F7E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>
            <a:extLst>
              <a:ext uri="{FF2B5EF4-FFF2-40B4-BE49-F238E27FC236}">
                <a16:creationId xmlns:a16="http://schemas.microsoft.com/office/drawing/2014/main" id="{9C8C0948-FE16-1A65-4AD4-D690EE864B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6299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67DD0D26-62CB-D793-44CD-59F80EBAF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545C5B85-F4EA-D597-0AB8-272353D3D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>
            <a:extLst>
              <a:ext uri="{FF2B5EF4-FFF2-40B4-BE49-F238E27FC236}">
                <a16:creationId xmlns:a16="http://schemas.microsoft.com/office/drawing/2014/main" id="{A147C454-9B28-4960-21D3-749C347B05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7049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>
          <a:extLst>
            <a:ext uri="{FF2B5EF4-FFF2-40B4-BE49-F238E27FC236}">
              <a16:creationId xmlns:a16="http://schemas.microsoft.com/office/drawing/2014/main" id="{750E4AE6-AE2E-7AD3-11E5-4AABCCF71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>
            <a:extLst>
              <a:ext uri="{FF2B5EF4-FFF2-40B4-BE49-F238E27FC236}">
                <a16:creationId xmlns:a16="http://schemas.microsoft.com/office/drawing/2014/main" id="{C7327D09-3EF3-3D35-827A-780747050B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4:notes">
            <a:extLst>
              <a:ext uri="{FF2B5EF4-FFF2-40B4-BE49-F238E27FC236}">
                <a16:creationId xmlns:a16="http://schemas.microsoft.com/office/drawing/2014/main" id="{9D6E1A88-D8BF-53AE-CCA7-D77BCA5DA0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7847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4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9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0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5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5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5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5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6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5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bright-nsolebna-jaato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Nsolebna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1.1790736488&amp;semt=ais_hybrid&amp;w=740&amp;q=80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f80bcdfe51_0_0"/>
          <p:cNvSpPr txBox="1"/>
          <p:nvPr/>
        </p:nvSpPr>
        <p:spPr>
          <a:xfrm>
            <a:off x="3065826" y="2391948"/>
            <a:ext cx="365085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buSzPts val="1800"/>
            </a:pPr>
            <a:r>
              <a:rPr lang="en-DE" sz="2800" dirty="0"/>
              <a:t>From CO</a:t>
            </a:r>
            <a:r>
              <a:rPr lang="en-DE" sz="2800" baseline="-25000" dirty="0"/>
              <a:t>2</a:t>
            </a:r>
            <a:r>
              <a:rPr lang="en-DE" sz="2800" dirty="0"/>
              <a:t> to Insight</a:t>
            </a:r>
            <a:endParaRPr sz="2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" name="Google Shape;55;g1f80bcdfe51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86563" y="645076"/>
            <a:ext cx="1570875" cy="157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g1f80bcdfe51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8875" y="-1087175"/>
            <a:ext cx="2599849" cy="280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g1f80bcdfe51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732950" y="3742975"/>
            <a:ext cx="2599849" cy="280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B23F2A-52DD-269D-7A71-82505022906F}"/>
              </a:ext>
            </a:extLst>
          </p:cNvPr>
          <p:cNvSpPr txBox="1"/>
          <p:nvPr/>
        </p:nvSpPr>
        <p:spPr>
          <a:xfrm>
            <a:off x="566974" y="4239211"/>
            <a:ext cx="14530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600" b="1" dirty="0"/>
              <a:t>Bright Jaato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5F826-B723-38CC-EDB2-FFCE240901CD}"/>
              </a:ext>
            </a:extLst>
          </p:cNvPr>
          <p:cNvSpPr txBox="1"/>
          <p:nvPr/>
        </p:nvSpPr>
        <p:spPr>
          <a:xfrm>
            <a:off x="6319777" y="4522125"/>
            <a:ext cx="24834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200" dirty="0"/>
              <a:t>Data Science &amp; Machine Learning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442D3F-7223-7FA2-38BD-A5F523F65A2C}"/>
              </a:ext>
            </a:extLst>
          </p:cNvPr>
          <p:cNvSpPr txBox="1"/>
          <p:nvPr/>
        </p:nvSpPr>
        <p:spPr>
          <a:xfrm>
            <a:off x="1151198" y="2927550"/>
            <a:ext cx="72320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2400" dirty="0"/>
              <a:t>A Data-Driven Exploration of CO</a:t>
            </a:r>
            <a:r>
              <a:rPr lang="en-DE" sz="2400" baseline="-25000" dirty="0"/>
              <a:t>2</a:t>
            </a:r>
            <a:r>
              <a:rPr lang="en-DE" sz="2400" dirty="0"/>
              <a:t> Electroreduction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245051-70A1-8942-8D97-D60C78C9B30A}"/>
              </a:ext>
            </a:extLst>
          </p:cNvPr>
          <p:cNvSpPr txBox="1"/>
          <p:nvPr/>
        </p:nvSpPr>
        <p:spPr>
          <a:xfrm>
            <a:off x="541379" y="589417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b="1" dirty="0"/>
              <a:t>Project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739FA8-DD6E-3212-D287-29F0E876B67D}"/>
              </a:ext>
            </a:extLst>
          </p:cNvPr>
          <p:cNvSpPr txBox="1"/>
          <p:nvPr/>
        </p:nvSpPr>
        <p:spPr>
          <a:xfrm>
            <a:off x="566974" y="4547004"/>
            <a:ext cx="1299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200" dirty="0"/>
              <a:t>October 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f80bcdfe51_0_8"/>
          <p:cNvSpPr txBox="1"/>
          <p:nvPr/>
        </p:nvSpPr>
        <p:spPr>
          <a:xfrm>
            <a:off x="752627" y="1212625"/>
            <a:ext cx="6493200" cy="3326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Introduction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Dataset &amp; Research Questions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From Raw Data to SQL Analysis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Findings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Conclusions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Limitations and Next Steps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800" b="0" i="0" u="none" strike="noStrike" cap="none" dirty="0">
              <a:solidFill>
                <a:schemeClr val="dk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  <a:p>
            <a:pPr>
              <a:lnSpc>
                <a:spcPct val="200000"/>
              </a:lnSpc>
            </a:pPr>
            <a:endParaRPr sz="10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" name="Google Shape;74;g1f80bcdfe51_0_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01676" y="3741888"/>
            <a:ext cx="2599849" cy="280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D73E37-C183-A664-6B09-FE781EF757AB}"/>
              </a:ext>
            </a:extLst>
          </p:cNvPr>
          <p:cNvSpPr txBox="1"/>
          <p:nvPr/>
        </p:nvSpPr>
        <p:spPr>
          <a:xfrm>
            <a:off x="359522" y="364727"/>
            <a:ext cx="49751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DC5FA"/>
                </a:solidFill>
                <a:latin typeface="Roboto"/>
                <a:ea typeface="Roboto"/>
                <a:cs typeface="Roboto"/>
                <a:sym typeface="Roboto"/>
              </a:rPr>
              <a:t>Presentation Overview</a:t>
            </a:r>
            <a:endParaRPr lang="en-US" sz="2400" b="1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9">
          <a:extLst>
            <a:ext uri="{FF2B5EF4-FFF2-40B4-BE49-F238E27FC236}">
              <a16:creationId xmlns:a16="http://schemas.microsoft.com/office/drawing/2014/main" id="{6E37D5B1-2D70-CC05-3C9A-D3F91284A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">
            <a:extLst>
              <a:ext uri="{FF2B5EF4-FFF2-40B4-BE49-F238E27FC236}">
                <a16:creationId xmlns:a16="http://schemas.microsoft.com/office/drawing/2014/main" id="{AB377BCF-4A4B-CB09-DDE2-1917BFF500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809150" y="3742975"/>
            <a:ext cx="2599849" cy="28032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119FD5-B9AC-D83E-3082-B348F9852AE2}"/>
              </a:ext>
            </a:extLst>
          </p:cNvPr>
          <p:cNvSpPr txBox="1"/>
          <p:nvPr/>
        </p:nvSpPr>
        <p:spPr>
          <a:xfrm>
            <a:off x="334587" y="356414"/>
            <a:ext cx="68060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DC5FA"/>
                </a:solidFill>
                <a:latin typeface="Roboto"/>
                <a:ea typeface="Roboto"/>
                <a:cs typeface="Roboto"/>
                <a:sym typeface="Roboto"/>
              </a:rPr>
              <a:t>From CO</a:t>
            </a:r>
            <a:r>
              <a:rPr lang="en-US" sz="2400" b="1" i="0" u="none" strike="noStrike" cap="none" baseline="-25000" dirty="0">
                <a:solidFill>
                  <a:srgbClr val="2DC5FA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en-US" sz="2400" b="1" i="0" u="none" strike="noStrike" cap="none" dirty="0">
                <a:solidFill>
                  <a:srgbClr val="2DC5FA"/>
                </a:solidFill>
                <a:latin typeface="Roboto"/>
                <a:ea typeface="Roboto"/>
                <a:cs typeface="Roboto"/>
                <a:sym typeface="Roboto"/>
              </a:rPr>
              <a:t> Challenge to Data Challenge</a:t>
            </a:r>
            <a:endParaRPr lang="en-US" sz="2400" b="1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5C4DFC-73F7-201E-7356-0B4C7F97AE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114"/>
          <a:stretch>
            <a:fillRect/>
          </a:stretch>
        </p:blipFill>
        <p:spPr>
          <a:xfrm>
            <a:off x="356631" y="1447280"/>
            <a:ext cx="2398267" cy="1872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11D14CE-8F7C-F372-CFCD-98B61B99801E}"/>
              </a:ext>
            </a:extLst>
          </p:cNvPr>
          <p:cNvSpPr/>
          <p:nvPr/>
        </p:nvSpPr>
        <p:spPr>
          <a:xfrm>
            <a:off x="676498" y="1209765"/>
            <a:ext cx="191193" cy="17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0FB9E5-19A3-15AC-0D35-39C65976D026}"/>
              </a:ext>
            </a:extLst>
          </p:cNvPr>
          <p:cNvSpPr txBox="1"/>
          <p:nvPr/>
        </p:nvSpPr>
        <p:spPr>
          <a:xfrm>
            <a:off x="338570" y="4460282"/>
            <a:ext cx="4921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DE" sz="600" b="1" dirty="0"/>
              <a:t>IPCC. (2021). </a:t>
            </a:r>
            <a:r>
              <a:rPr lang="en-DE" sz="600" i="1" dirty="0"/>
              <a:t>Climate Change 2021: The Physical Science Basis</a:t>
            </a:r>
            <a:r>
              <a:rPr lang="en-DE" sz="600" dirty="0"/>
              <a:t>. Contribution of Working Group I to the Sixth Assessment Report of the Intergovernmental Panel on Climate Change. Cambridge University Press.  </a:t>
            </a:r>
            <a:r>
              <a:rPr lang="en-DE" sz="600" b="1" dirty="0"/>
              <a:t>Quan, Y., Zhu, J., &amp; Zheng, G. (2021). </a:t>
            </a:r>
            <a:r>
              <a:rPr lang="en-DE" sz="600" dirty="0"/>
              <a:t>Electrocatalytic Reactions for Converting CO₂ to Value-Added Products</a:t>
            </a:r>
            <a:r>
              <a:rPr lang="en-DE" sz="600" b="1" dirty="0"/>
              <a:t>.</a:t>
            </a:r>
            <a:r>
              <a:rPr lang="en-DE" sz="600" dirty="0"/>
              <a:t> </a:t>
            </a:r>
            <a:r>
              <a:rPr lang="en-DE" sz="600" i="1" dirty="0"/>
              <a:t>Small Science, 1</a:t>
            </a:r>
            <a:r>
              <a:rPr lang="en-DE" sz="600" dirty="0"/>
              <a:t>(10), 2100043.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6147CD-528D-F92E-DDA4-6C0BC33B4929}"/>
              </a:ext>
            </a:extLst>
          </p:cNvPr>
          <p:cNvSpPr txBox="1"/>
          <p:nvPr/>
        </p:nvSpPr>
        <p:spPr>
          <a:xfrm>
            <a:off x="712814" y="4007848"/>
            <a:ext cx="74918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600" b="1" dirty="0">
                <a:solidFill>
                  <a:srgbClr val="00B0F0"/>
                </a:solidFill>
              </a:rPr>
              <a:t>Can we structure this literature data to identify promising CO</a:t>
            </a:r>
            <a:r>
              <a:rPr lang="en-DE" sz="1600" b="1" baseline="-25000" dirty="0">
                <a:solidFill>
                  <a:srgbClr val="00B0F0"/>
                </a:solidFill>
              </a:rPr>
              <a:t>2</a:t>
            </a:r>
            <a:r>
              <a:rPr lang="en-DE" sz="1600" b="1" dirty="0">
                <a:solidFill>
                  <a:srgbClr val="00B0F0"/>
                </a:solidFill>
              </a:rPr>
              <a:t>RR systems?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D19424-D1D3-101A-FAB5-DBE568DC7DA1}"/>
              </a:ext>
            </a:extLst>
          </p:cNvPr>
          <p:cNvSpPr txBox="1"/>
          <p:nvPr/>
        </p:nvSpPr>
        <p:spPr>
          <a:xfrm>
            <a:off x="426028" y="3357744"/>
            <a:ext cx="22257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sz="1000" dirty="0"/>
              <a:t>Global anthropogenic CO</a:t>
            </a:r>
            <a:r>
              <a:rPr lang="en-DE" sz="1000" baseline="-25000" dirty="0"/>
              <a:t>2</a:t>
            </a:r>
            <a:r>
              <a:rPr lang="en-DE" sz="1000" dirty="0"/>
              <a:t> emissions</a:t>
            </a:r>
          </a:p>
        </p:txBody>
      </p:sp>
      <p:pic>
        <p:nvPicPr>
          <p:cNvPr id="28" name="Main graphic">
            <a:extLst>
              <a:ext uri="{FF2B5EF4-FFF2-40B4-BE49-F238E27FC236}">
                <a16:creationId xmlns:a16="http://schemas.microsoft.com/office/drawing/2014/main" id="{18EA0E0E-59BA-9810-4EB2-16AF5DD713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871874" y="1447280"/>
            <a:ext cx="2614931" cy="1872000"/>
          </a:xfrm>
          <a:prstGeom prst="rect">
            <a:avLst/>
          </a:prstGeom>
          <a:ln>
            <a:noFill/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FE8A490-7BA8-3CBE-287B-8EAD8FE987BE}"/>
              </a:ext>
            </a:extLst>
          </p:cNvPr>
          <p:cNvSpPr txBox="1"/>
          <p:nvPr/>
        </p:nvSpPr>
        <p:spPr>
          <a:xfrm>
            <a:off x="2728567" y="3357744"/>
            <a:ext cx="2718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sz="1000" dirty="0"/>
              <a:t>CO₂ + renewable electricity → chemicals and fuels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717CC3-9F10-B872-6C36-710F3FB712B6}"/>
              </a:ext>
            </a:extLst>
          </p:cNvPr>
          <p:cNvSpPr txBox="1"/>
          <p:nvPr/>
        </p:nvSpPr>
        <p:spPr>
          <a:xfrm>
            <a:off x="5551788" y="1447280"/>
            <a:ext cx="3256510" cy="144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Many catalysts and catalyst combinations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Different products and selectivities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Different electrolytes and reactors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Operating conditions vary across studies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Metrics are reported inconsistently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92B435-F929-4214-BAD5-851DBD57C82F}"/>
              </a:ext>
            </a:extLst>
          </p:cNvPr>
          <p:cNvSpPr txBox="1"/>
          <p:nvPr/>
        </p:nvSpPr>
        <p:spPr>
          <a:xfrm>
            <a:off x="5524011" y="3403911"/>
            <a:ext cx="29323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E" b="1" dirty="0"/>
              <a:t>→ Direct comparison is difficult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746DF7-0DCC-6787-8077-F9CC48A2295F}"/>
              </a:ext>
            </a:extLst>
          </p:cNvPr>
          <p:cNvSpPr txBox="1"/>
          <p:nvPr/>
        </p:nvSpPr>
        <p:spPr>
          <a:xfrm>
            <a:off x="6197345" y="1027659"/>
            <a:ext cx="16166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DE" b="1" dirty="0"/>
              <a:t>Data Challenge</a:t>
            </a:r>
            <a:endParaRPr lang="en-DE" sz="1400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C745E0-84A2-8D50-13B6-59CAB6F02C1C}"/>
              </a:ext>
            </a:extLst>
          </p:cNvPr>
          <p:cNvSpPr txBox="1"/>
          <p:nvPr/>
        </p:nvSpPr>
        <p:spPr>
          <a:xfrm>
            <a:off x="855224" y="1027659"/>
            <a:ext cx="16166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DE" b="1" dirty="0"/>
              <a:t>CO</a:t>
            </a:r>
            <a:r>
              <a:rPr lang="en-DE" b="1" baseline="-25000" dirty="0"/>
              <a:t>2</a:t>
            </a:r>
            <a:r>
              <a:rPr lang="en-DE" b="1" dirty="0"/>
              <a:t> Challenge</a:t>
            </a:r>
            <a:endParaRPr lang="en-DE" sz="14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861733-D315-474D-34E2-74BC0557A70C}"/>
              </a:ext>
            </a:extLst>
          </p:cNvPr>
          <p:cNvSpPr txBox="1"/>
          <p:nvPr/>
        </p:nvSpPr>
        <p:spPr>
          <a:xfrm>
            <a:off x="3412724" y="1027659"/>
            <a:ext cx="1843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DE" b="1" dirty="0"/>
              <a:t>CO</a:t>
            </a:r>
            <a:r>
              <a:rPr lang="en-DE" b="1" baseline="-25000" dirty="0"/>
              <a:t>2</a:t>
            </a:r>
            <a:r>
              <a:rPr lang="en-DE" b="1" dirty="0"/>
              <a:t>RR Opportunity</a:t>
            </a:r>
            <a:endParaRPr lang="en-DE" sz="14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91C795-D9C1-A6E4-7189-90C0ECFD06D3}"/>
              </a:ext>
            </a:extLst>
          </p:cNvPr>
          <p:cNvSpPr txBox="1"/>
          <p:nvPr/>
        </p:nvSpPr>
        <p:spPr>
          <a:xfrm>
            <a:off x="6210569" y="4462469"/>
            <a:ext cx="25998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DE" sz="800" b="1" dirty="0"/>
              <a:t>CO₂:</a:t>
            </a:r>
            <a:r>
              <a:rPr lang="en-DE" sz="800" dirty="0"/>
              <a:t> carbon dioxide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DE" sz="800" b="1" dirty="0"/>
              <a:t>CO₂RR:</a:t>
            </a:r>
            <a:r>
              <a:rPr lang="en-DE" sz="800" dirty="0"/>
              <a:t> electrochemical CO₂ reduction reaction</a:t>
            </a:r>
            <a:endParaRPr lang="en-DE" sz="600" dirty="0"/>
          </a:p>
        </p:txBody>
      </p:sp>
    </p:spTree>
    <p:extLst>
      <p:ext uri="{BB962C8B-B14F-4D97-AF65-F5344CB8AC3E}">
        <p14:creationId xmlns:p14="http://schemas.microsoft.com/office/powerpoint/2010/main" val="413369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30" grpId="0"/>
      <p:bldP spid="37" grpId="0"/>
      <p:bldP spid="39" grpId="0"/>
      <p:bldP spid="40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809150" y="3742975"/>
            <a:ext cx="2599849" cy="28032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A33F9A-42C8-F2CD-6329-C8D570C6C9E9}"/>
              </a:ext>
            </a:extLst>
          </p:cNvPr>
          <p:cNvSpPr txBox="1"/>
          <p:nvPr/>
        </p:nvSpPr>
        <p:spPr>
          <a:xfrm>
            <a:off x="334588" y="356414"/>
            <a:ext cx="49751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DC5FA"/>
                </a:solidFill>
                <a:latin typeface="Roboto"/>
                <a:ea typeface="Roboto"/>
                <a:cs typeface="Roboto"/>
                <a:sym typeface="Roboto"/>
              </a:rPr>
              <a:t>Data &amp; Research Questions</a:t>
            </a:r>
            <a:endParaRPr lang="en-US" sz="2400" b="1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4C6213-50D4-89FC-078A-623791DCAAC8}"/>
              </a:ext>
            </a:extLst>
          </p:cNvPr>
          <p:cNvSpPr txBox="1"/>
          <p:nvPr/>
        </p:nvSpPr>
        <p:spPr>
          <a:xfrm>
            <a:off x="4239492" y="1248537"/>
            <a:ext cx="4645059" cy="31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DE" b="1" dirty="0"/>
              <a:t>RQ1:</a:t>
            </a:r>
            <a:r>
              <a:rPr lang="en-DE" dirty="0"/>
              <a:t> How does performance vary across catalyst–product combinations?</a:t>
            </a:r>
          </a:p>
          <a:p>
            <a:pPr algn="just">
              <a:lnSpc>
                <a:spcPct val="150000"/>
              </a:lnSpc>
            </a:pPr>
            <a:endParaRPr lang="en-DE" dirty="0"/>
          </a:p>
          <a:p>
            <a:pPr algn="just"/>
            <a:r>
              <a:rPr lang="en-DE" b="1" dirty="0"/>
              <a:t>RQ2:</a:t>
            </a:r>
            <a:r>
              <a:rPr lang="en-DE" dirty="0"/>
              <a:t> Which combinations have high FE, high current density, and lower reported cost?</a:t>
            </a:r>
          </a:p>
          <a:p>
            <a:pPr algn="just"/>
            <a:endParaRPr lang="en-DE" dirty="0"/>
          </a:p>
          <a:p>
            <a:pPr algn="just">
              <a:lnSpc>
                <a:spcPct val="150000"/>
              </a:lnSpc>
            </a:pPr>
            <a:endParaRPr lang="en-DE" sz="800" dirty="0"/>
          </a:p>
          <a:p>
            <a:pPr algn="just"/>
            <a:r>
              <a:rPr lang="en-DE" b="1" dirty="0"/>
              <a:t>RQ3:</a:t>
            </a:r>
            <a:r>
              <a:rPr lang="en-DE" dirty="0"/>
              <a:t> How does current density vary across catalyst–electrolyte systems?</a:t>
            </a:r>
          </a:p>
          <a:p>
            <a:pPr algn="just"/>
            <a:endParaRPr lang="en-DE" dirty="0"/>
          </a:p>
          <a:p>
            <a:pPr algn="just">
              <a:lnSpc>
                <a:spcPct val="150000"/>
              </a:lnSpc>
            </a:pPr>
            <a:endParaRPr lang="en-DE" sz="800" dirty="0"/>
          </a:p>
          <a:p>
            <a:pPr algn="just"/>
            <a:r>
              <a:rPr lang="en-DE" b="1" dirty="0"/>
              <a:t>RQ4</a:t>
            </a:r>
            <a:r>
              <a:rPr lang="en-DE" dirty="0"/>
              <a:t> How do systems and current density differ across temperature groups?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173D06-9909-71DD-875D-E169AF536C79}"/>
              </a:ext>
            </a:extLst>
          </p:cNvPr>
          <p:cNvSpPr txBox="1"/>
          <p:nvPr/>
        </p:nvSpPr>
        <p:spPr>
          <a:xfrm>
            <a:off x="374397" y="4526720"/>
            <a:ext cx="39897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600" b="1" dirty="0"/>
              <a:t>Malek, A., Wang, Q., Baumann, S., Guillon, O., Eikerling, M., &amp; Malek, K. (2021).</a:t>
            </a:r>
            <a:r>
              <a:rPr lang="en-DE" sz="600" dirty="0"/>
              <a:t> </a:t>
            </a:r>
            <a:r>
              <a:rPr lang="en-DE" sz="600" i="1" dirty="0"/>
              <a:t>A Data-Driven Framework for the Accelerated Discovery of CO₂ Reduction Electrocatalysts.</a:t>
            </a:r>
            <a:r>
              <a:rPr lang="en-DE" sz="600" dirty="0"/>
              <a:t> Frontiers in Energy Research, 9, 609070.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2AFADD-0A5D-E8EC-6DC9-DE67E4F739A8}"/>
              </a:ext>
            </a:extLst>
          </p:cNvPr>
          <p:cNvSpPr txBox="1"/>
          <p:nvPr/>
        </p:nvSpPr>
        <p:spPr>
          <a:xfrm>
            <a:off x="1776906" y="911995"/>
            <a:ext cx="8671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DE" b="1" dirty="0"/>
              <a:t>Dataset</a:t>
            </a:r>
            <a:endParaRPr lang="en-DE" sz="1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3DA417-E06E-D68C-C5AD-A2340E8D9A33}"/>
              </a:ext>
            </a:extLst>
          </p:cNvPr>
          <p:cNvSpPr txBox="1"/>
          <p:nvPr/>
        </p:nvSpPr>
        <p:spPr>
          <a:xfrm>
            <a:off x="6031148" y="911995"/>
            <a:ext cx="10617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DE" b="1" dirty="0"/>
              <a:t>Questions</a:t>
            </a:r>
            <a:endParaRPr lang="en-DE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522DAB-A1DB-3305-A3F9-E9A1D66A0C60}"/>
              </a:ext>
            </a:extLst>
          </p:cNvPr>
          <p:cNvSpPr txBox="1"/>
          <p:nvPr/>
        </p:nvSpPr>
        <p:spPr>
          <a:xfrm>
            <a:off x="522329" y="1651114"/>
            <a:ext cx="3376340" cy="981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DE" b="1" dirty="0"/>
              <a:t>Low-temperature dataset</a:t>
            </a:r>
          </a:p>
          <a:p>
            <a:pPr>
              <a:lnSpc>
                <a:spcPct val="150000"/>
              </a:lnSpc>
            </a:pPr>
            <a:r>
              <a:rPr lang="en-DE" b="1" dirty="0"/>
              <a:t>101 records</a:t>
            </a:r>
          </a:p>
          <a:p>
            <a:pPr>
              <a:lnSpc>
                <a:spcPct val="150000"/>
              </a:lnSpc>
            </a:pPr>
            <a:r>
              <a:rPr lang="en-DE" sz="1200" dirty="0"/>
              <a:t>Catalyst • Product • FE • Current density • Cost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031D35-350F-AAEA-7A9F-BED11DF44C15}"/>
              </a:ext>
            </a:extLst>
          </p:cNvPr>
          <p:cNvSpPr txBox="1"/>
          <p:nvPr/>
        </p:nvSpPr>
        <p:spPr>
          <a:xfrm>
            <a:off x="522329" y="2981463"/>
            <a:ext cx="3376340" cy="1258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DE" b="1" dirty="0"/>
              <a:t>Second experimental dataset</a:t>
            </a:r>
            <a:br>
              <a:rPr lang="en-DE" dirty="0"/>
            </a:br>
            <a:r>
              <a:rPr lang="en-DE" b="1" dirty="0"/>
              <a:t>181 records</a:t>
            </a:r>
            <a:br>
              <a:rPr lang="en-DE" dirty="0"/>
            </a:br>
            <a:r>
              <a:rPr lang="en-DE" sz="1200" dirty="0"/>
              <a:t>Catalyst • Electrolyte • Temperature • Total current density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B5765F-3521-5B76-59D6-D34660D973EC}"/>
              </a:ext>
            </a:extLst>
          </p:cNvPr>
          <p:cNvSpPr txBox="1"/>
          <p:nvPr/>
        </p:nvSpPr>
        <p:spPr>
          <a:xfrm>
            <a:off x="7304861" y="4588275"/>
            <a:ext cx="146474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800" b="1" dirty="0"/>
              <a:t>FE </a:t>
            </a:r>
            <a:r>
              <a:rPr lang="en-DE" sz="800" dirty="0"/>
              <a:t>: Faradaic efficiency</a:t>
            </a:r>
            <a:endParaRPr lang="en-DE" sz="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9">
          <a:extLst>
            <a:ext uri="{FF2B5EF4-FFF2-40B4-BE49-F238E27FC236}">
              <a16:creationId xmlns:a16="http://schemas.microsoft.com/office/drawing/2014/main" id="{422E298A-E8F9-C01E-5A4A-746A1ECF3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">
            <a:extLst>
              <a:ext uri="{FF2B5EF4-FFF2-40B4-BE49-F238E27FC236}">
                <a16:creationId xmlns:a16="http://schemas.microsoft.com/office/drawing/2014/main" id="{D42EE4B3-D45F-F09D-964E-E4864E4451C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809150" y="3742975"/>
            <a:ext cx="2599849" cy="28032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6E27D1B-1AB1-9F23-2462-ACCD3075108F}"/>
              </a:ext>
            </a:extLst>
          </p:cNvPr>
          <p:cNvSpPr txBox="1"/>
          <p:nvPr/>
        </p:nvSpPr>
        <p:spPr>
          <a:xfrm>
            <a:off x="334588" y="356414"/>
            <a:ext cx="4854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100"/>
            </a:pPr>
            <a:r>
              <a:rPr lang="en-DE" sz="2400" b="1" dirty="0">
                <a:solidFill>
                  <a:srgbClr val="00B0F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From Raw Data to SQL Analysis</a:t>
            </a:r>
            <a:endParaRPr lang="en-US" sz="2400" b="1" i="0" u="none" strike="noStrike" cap="none" dirty="0">
              <a:solidFill>
                <a:srgbClr val="00B0F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  <a:sym typeface="Roboto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C9FB81-8B9B-0AE7-9B3A-2881D8DF8BB6}"/>
              </a:ext>
            </a:extLst>
          </p:cNvPr>
          <p:cNvSpPr txBox="1"/>
          <p:nvPr/>
        </p:nvSpPr>
        <p:spPr>
          <a:xfrm>
            <a:off x="861392" y="1237018"/>
            <a:ext cx="9248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DE" b="1" dirty="0">
                <a:solidFill>
                  <a:srgbClr val="00B0F0"/>
                </a:solidFill>
              </a:rPr>
              <a:t>Explore</a:t>
            </a:r>
            <a:endParaRPr lang="en-DE" sz="1400" b="1" dirty="0">
              <a:solidFill>
                <a:srgbClr val="00B0F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172412D-9BB3-01D2-AE0B-4FB3E93578D6}"/>
              </a:ext>
            </a:extLst>
          </p:cNvPr>
          <p:cNvSpPr txBox="1"/>
          <p:nvPr/>
        </p:nvSpPr>
        <p:spPr>
          <a:xfrm>
            <a:off x="3046289" y="1237018"/>
            <a:ext cx="8896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DE" b="1" dirty="0">
                <a:solidFill>
                  <a:srgbClr val="00B0F0"/>
                </a:solidFill>
              </a:rPr>
              <a:t>Prepare</a:t>
            </a:r>
            <a:endParaRPr lang="en-DE" sz="1400" b="1" dirty="0">
              <a:solidFill>
                <a:srgbClr val="00B0F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41D2218-C4DA-9A0D-78E6-EDEC48BBFD1B}"/>
              </a:ext>
            </a:extLst>
          </p:cNvPr>
          <p:cNvSpPr txBox="1"/>
          <p:nvPr/>
        </p:nvSpPr>
        <p:spPr>
          <a:xfrm>
            <a:off x="4906157" y="1237018"/>
            <a:ext cx="15094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DE" b="1" dirty="0">
                <a:solidFill>
                  <a:srgbClr val="00B0F0"/>
                </a:solidFill>
              </a:rPr>
              <a:t>Build Database</a:t>
            </a:r>
            <a:endParaRPr lang="en-DE" sz="1400" b="1" dirty="0">
              <a:solidFill>
                <a:srgbClr val="00B0F0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7E3D009-AF80-D025-FC5B-71EB4EA8AEBD}"/>
              </a:ext>
            </a:extLst>
          </p:cNvPr>
          <p:cNvSpPr txBox="1"/>
          <p:nvPr/>
        </p:nvSpPr>
        <p:spPr>
          <a:xfrm>
            <a:off x="7311288" y="1237018"/>
            <a:ext cx="8912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DE" b="1" dirty="0">
                <a:solidFill>
                  <a:srgbClr val="00B0F0"/>
                </a:solidFill>
              </a:rPr>
              <a:t>Analyse</a:t>
            </a:r>
            <a:endParaRPr lang="en-DE" sz="1400" b="1" dirty="0">
              <a:solidFill>
                <a:srgbClr val="00B0F0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EC9406D-E4BA-78E7-801D-84DA011B52D3}"/>
              </a:ext>
            </a:extLst>
          </p:cNvPr>
          <p:cNvSpPr txBox="1"/>
          <p:nvPr/>
        </p:nvSpPr>
        <p:spPr>
          <a:xfrm>
            <a:off x="563449" y="887265"/>
            <a:ext cx="58119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/>
              <a:t>How raw literature data became a structured database for analysis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DE71BC25-1AC4-112D-D1C5-801B08BF2FED}"/>
              </a:ext>
            </a:extLst>
          </p:cNvPr>
          <p:cNvSpPr txBox="1"/>
          <p:nvPr/>
        </p:nvSpPr>
        <p:spPr>
          <a:xfrm>
            <a:off x="490377" y="1634631"/>
            <a:ext cx="1666847" cy="889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DE" sz="1200" dirty="0"/>
              <a:t>Understand the raw data and identify issues.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9383E59-2F1E-465C-70E5-2D1617749612}"/>
              </a:ext>
            </a:extLst>
          </p:cNvPr>
          <p:cNvSpPr txBox="1"/>
          <p:nvPr/>
        </p:nvSpPr>
        <p:spPr>
          <a:xfrm>
            <a:off x="2713797" y="1634631"/>
            <a:ext cx="1554611" cy="889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DE" sz="1200" dirty="0"/>
              <a:t>Clean, standardise, and transform the data.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85509A6-9B57-109A-90F7-1DD6D9C6C52C}"/>
              </a:ext>
            </a:extLst>
          </p:cNvPr>
          <p:cNvSpPr txBox="1"/>
          <p:nvPr/>
        </p:nvSpPr>
        <p:spPr>
          <a:xfrm>
            <a:off x="6821267" y="1634631"/>
            <a:ext cx="1871329" cy="889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DE" sz="1200" dirty="0"/>
              <a:t>Use SQL and visualisation to answer the research questions.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1F28D05-9ADF-EAE4-1036-D045F0C7CDDB}"/>
              </a:ext>
            </a:extLst>
          </p:cNvPr>
          <p:cNvSpPr txBox="1"/>
          <p:nvPr/>
        </p:nvSpPr>
        <p:spPr>
          <a:xfrm>
            <a:off x="4782707" y="1634631"/>
            <a:ext cx="1758897" cy="889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DE" sz="1200" dirty="0"/>
              <a:t>Create related tables, keys, and SQLite database.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ACA51A5-2DD1-68E0-D83B-ACB2DA786210}"/>
              </a:ext>
            </a:extLst>
          </p:cNvPr>
          <p:cNvSpPr txBox="1"/>
          <p:nvPr/>
        </p:nvSpPr>
        <p:spPr>
          <a:xfrm>
            <a:off x="1312988" y="4809967"/>
            <a:ext cx="65180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600" b="1" dirty="0">
                <a:solidFill>
                  <a:srgbClr val="00B0F0"/>
                </a:solidFill>
              </a:rPr>
              <a:t>Raw data → prepared data → relational database → SQL insights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A20B221-9DE8-D8E3-7FB3-08894460E408}"/>
              </a:ext>
            </a:extLst>
          </p:cNvPr>
          <p:cNvSpPr txBox="1"/>
          <p:nvPr/>
        </p:nvSpPr>
        <p:spPr>
          <a:xfrm>
            <a:off x="400555" y="3106660"/>
            <a:ext cx="1846490" cy="889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Inspect data structure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Check missing values and duplicates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E71FB16-5DB8-26A8-4B74-209ECE879B38}"/>
              </a:ext>
            </a:extLst>
          </p:cNvPr>
          <p:cNvSpPr txBox="1"/>
          <p:nvPr/>
        </p:nvSpPr>
        <p:spPr>
          <a:xfrm>
            <a:off x="2481009" y="3106660"/>
            <a:ext cx="2020186" cy="1720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Standardise names and formats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Preserve meaningful missing values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Create clean, database-ready data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FC97D2-42FC-0BB9-4A6A-BF7C22001B18}"/>
              </a:ext>
            </a:extLst>
          </p:cNvPr>
          <p:cNvSpPr txBox="1"/>
          <p:nvPr/>
        </p:nvSpPr>
        <p:spPr>
          <a:xfrm>
            <a:off x="4707727" y="3106660"/>
            <a:ext cx="1908857" cy="144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Create 5 related tables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Define primary and foreign keys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Build and verify in SQLite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599303A-EE3D-0271-D32E-04BCA2D2A6D8}"/>
              </a:ext>
            </a:extLst>
          </p:cNvPr>
          <p:cNvSpPr txBox="1"/>
          <p:nvPr/>
        </p:nvSpPr>
        <p:spPr>
          <a:xfrm>
            <a:off x="6802503" y="3106660"/>
            <a:ext cx="1908857" cy="1166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Query the database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Compare systems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Turn results into visual insights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BCE4D2D5-2311-13ED-788C-F8A3F166CFA3}"/>
              </a:ext>
            </a:extLst>
          </p:cNvPr>
          <p:cNvCxnSpPr>
            <a:cxnSpLocks/>
          </p:cNvCxnSpPr>
          <p:nvPr/>
        </p:nvCxnSpPr>
        <p:spPr>
          <a:xfrm>
            <a:off x="2145320" y="1390906"/>
            <a:ext cx="323785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FC2BA30E-B0E6-15D6-50F5-B57557566959}"/>
              </a:ext>
            </a:extLst>
          </p:cNvPr>
          <p:cNvCxnSpPr>
            <a:cxnSpLocks/>
          </p:cNvCxnSpPr>
          <p:nvPr/>
        </p:nvCxnSpPr>
        <p:spPr>
          <a:xfrm>
            <a:off x="6628390" y="1390906"/>
            <a:ext cx="323785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17BD1C38-C73C-3F58-03BD-C2F9126CA296}"/>
              </a:ext>
            </a:extLst>
          </p:cNvPr>
          <p:cNvCxnSpPr>
            <a:cxnSpLocks/>
          </p:cNvCxnSpPr>
          <p:nvPr/>
        </p:nvCxnSpPr>
        <p:spPr>
          <a:xfrm>
            <a:off x="4287268" y="1390906"/>
            <a:ext cx="323785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8" name="Picture 137">
            <a:extLst>
              <a:ext uri="{FF2B5EF4-FFF2-40B4-BE49-F238E27FC236}">
                <a16:creationId xmlns:a16="http://schemas.microsoft.com/office/drawing/2014/main" id="{93F45360-1272-5AE1-5EE9-6682A2767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48" y="101244"/>
            <a:ext cx="7772400" cy="4534524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3B8C9C1A-F83D-6A15-594A-8DA50C5E6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2132" y="-66410"/>
            <a:ext cx="3322972" cy="5143500"/>
          </a:xfrm>
          <a:prstGeom prst="rect">
            <a:avLst/>
          </a:prstGeom>
        </p:spPr>
      </p:pic>
      <p:pic>
        <p:nvPicPr>
          <p:cNvPr id="143" name="Picture 142">
            <a:extLst>
              <a:ext uri="{FF2B5EF4-FFF2-40B4-BE49-F238E27FC236}">
                <a16:creationId xmlns:a16="http://schemas.microsoft.com/office/drawing/2014/main" id="{69674AD3-3E9F-A70F-5D18-4A8753C4ED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97" y="66410"/>
            <a:ext cx="9088103" cy="4534524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D3536C63-C988-2472-5430-F9AB5B8F4D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7723"/>
            <a:ext cx="4768223" cy="5143500"/>
          </a:xfrm>
          <a:prstGeom prst="rect">
            <a:avLst/>
          </a:prstGeom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5C3D0692-6130-0A11-8FF5-21E39D24B1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328" y="-49097"/>
            <a:ext cx="7772400" cy="4514380"/>
          </a:xfrm>
          <a:prstGeom prst="rect">
            <a:avLst/>
          </a:prstGeom>
        </p:spPr>
      </p:pic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860AACE-0ECF-5FF8-50B0-7689B9834137}"/>
              </a:ext>
            </a:extLst>
          </p:cNvPr>
          <p:cNvGrpSpPr/>
          <p:nvPr/>
        </p:nvGrpSpPr>
        <p:grpSpPr>
          <a:xfrm>
            <a:off x="233564" y="2349764"/>
            <a:ext cx="7264371" cy="685565"/>
            <a:chOff x="382208" y="2226658"/>
            <a:chExt cx="7264371" cy="685565"/>
          </a:xfrm>
        </p:grpSpPr>
        <p:pic>
          <p:nvPicPr>
            <p:cNvPr id="147" name="Picture 146">
              <a:extLst>
                <a:ext uri="{FF2B5EF4-FFF2-40B4-BE49-F238E27FC236}">
                  <a16:creationId xmlns:a16="http://schemas.microsoft.com/office/drawing/2014/main" id="{EC90805C-C0F6-B57F-121E-5CF4A14F1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65494" b="18330"/>
            <a:stretch>
              <a:fillRect/>
            </a:stretch>
          </p:blipFill>
          <p:spPr>
            <a:xfrm>
              <a:off x="382208" y="2226658"/>
              <a:ext cx="7264371" cy="685565"/>
            </a:xfrm>
            <a:prstGeom prst="rect">
              <a:avLst/>
            </a:prstGeom>
            <a:ln w="38100">
              <a:solidFill>
                <a:srgbClr val="FF0000"/>
              </a:solidFill>
            </a:ln>
          </p:spPr>
        </p:pic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0225D6C4-F668-028F-421B-EC4997E1DCA1}"/>
                </a:ext>
              </a:extLst>
            </p:cNvPr>
            <p:cNvSpPr txBox="1"/>
            <p:nvPr/>
          </p:nvSpPr>
          <p:spPr>
            <a:xfrm>
              <a:off x="2732506" y="2256306"/>
              <a:ext cx="19752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DE" dirty="0">
                  <a:solidFill>
                    <a:srgbClr val="FF0000"/>
                  </a:solidFill>
                </a:rPr>
                <a:t>Before standardization</a:t>
              </a:r>
            </a:p>
          </p:txBody>
        </p:sp>
      </p:grpSp>
      <p:pic>
        <p:nvPicPr>
          <p:cNvPr id="150" name="Picture 149">
            <a:extLst>
              <a:ext uri="{FF2B5EF4-FFF2-40B4-BE49-F238E27FC236}">
                <a16:creationId xmlns:a16="http://schemas.microsoft.com/office/drawing/2014/main" id="{DCC973F8-A244-59BC-99AB-E324E579B4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8103" y="-101244"/>
            <a:ext cx="5696051" cy="5143500"/>
          </a:xfrm>
          <a:prstGeom prst="rect">
            <a:avLst/>
          </a:prstGeom>
        </p:spPr>
      </p:pic>
      <p:grpSp>
        <p:nvGrpSpPr>
          <p:cNvPr id="155" name="Group 154">
            <a:extLst>
              <a:ext uri="{FF2B5EF4-FFF2-40B4-BE49-F238E27FC236}">
                <a16:creationId xmlns:a16="http://schemas.microsoft.com/office/drawing/2014/main" id="{729D11FF-F7E7-CA87-8F00-511364C61E70}"/>
              </a:ext>
            </a:extLst>
          </p:cNvPr>
          <p:cNvGrpSpPr/>
          <p:nvPr/>
        </p:nvGrpSpPr>
        <p:grpSpPr>
          <a:xfrm>
            <a:off x="4191175" y="2257908"/>
            <a:ext cx="716274" cy="342521"/>
            <a:chOff x="3977663" y="2359152"/>
            <a:chExt cx="716274" cy="342521"/>
          </a:xfrm>
        </p:grpSpPr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EDB61B7E-9B61-630B-47E1-07307625AC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77663" y="2359152"/>
              <a:ext cx="465610" cy="19421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E6DCC75A-E4D4-B242-912C-051AAE6D3E94}"/>
                </a:ext>
              </a:extLst>
            </p:cNvPr>
            <p:cNvSpPr txBox="1"/>
            <p:nvPr/>
          </p:nvSpPr>
          <p:spPr>
            <a:xfrm>
              <a:off x="4409885" y="2393896"/>
              <a:ext cx="284052" cy="3077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DE" dirty="0">
                  <a:solidFill>
                    <a:srgbClr val="FF0000"/>
                  </a:solidFill>
                </a:rPr>
                <a:t>8</a:t>
              </a:r>
            </a:p>
          </p:txBody>
        </p:sp>
      </p:grpSp>
      <p:pic>
        <p:nvPicPr>
          <p:cNvPr id="156" name="Picture 155">
            <a:extLst>
              <a:ext uri="{FF2B5EF4-FFF2-40B4-BE49-F238E27FC236}">
                <a16:creationId xmlns:a16="http://schemas.microsoft.com/office/drawing/2014/main" id="{9965585E-C654-D636-1CF6-D2076096F6F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6575" y="647740"/>
            <a:ext cx="6224197" cy="4394516"/>
          </a:xfrm>
          <a:prstGeom prst="rect">
            <a:avLst/>
          </a:prstGeom>
        </p:spPr>
      </p:pic>
      <p:pic>
        <p:nvPicPr>
          <p:cNvPr id="157" name="Picture 156">
            <a:extLst>
              <a:ext uri="{FF2B5EF4-FFF2-40B4-BE49-F238E27FC236}">
                <a16:creationId xmlns:a16="http://schemas.microsoft.com/office/drawing/2014/main" id="{37AA867A-8C82-3B7F-8348-F3A1B5FC228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0387" y="-24178"/>
            <a:ext cx="3473767" cy="5143500"/>
          </a:xfrm>
          <a:prstGeom prst="rect">
            <a:avLst/>
          </a:prstGeom>
        </p:spPr>
      </p:pic>
      <p:pic>
        <p:nvPicPr>
          <p:cNvPr id="158" name="Picture 157">
            <a:extLst>
              <a:ext uri="{FF2B5EF4-FFF2-40B4-BE49-F238E27FC236}">
                <a16:creationId xmlns:a16="http://schemas.microsoft.com/office/drawing/2014/main" id="{4FDA77F7-3AA7-67B7-D4C6-D4C535E36E9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487" y="-9578"/>
            <a:ext cx="5938948" cy="5143500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12FE0BB8-F1D5-5D11-8FED-C9241B31C84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91825" y="-9578"/>
            <a:ext cx="706107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70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64" grpId="0"/>
      <p:bldP spid="65" grpId="0"/>
      <p:bldP spid="96" grpId="0"/>
      <p:bldP spid="99" grpId="0"/>
      <p:bldP spid="101" grpId="0"/>
      <p:bldP spid="105" grpId="0"/>
      <p:bldP spid="109" grpId="0"/>
      <p:bldP spid="113" grpId="0"/>
      <p:bldP spid="121" grpId="0"/>
      <p:bldP spid="128" grpId="0"/>
      <p:bldP spid="130" grpId="0"/>
      <p:bldP spid="132" grpId="0"/>
      <p:bldP spid="1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9">
          <a:extLst>
            <a:ext uri="{FF2B5EF4-FFF2-40B4-BE49-F238E27FC236}">
              <a16:creationId xmlns:a16="http://schemas.microsoft.com/office/drawing/2014/main" id="{A394962B-72C4-9EA2-9FB9-6749F3B4F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">
            <a:extLst>
              <a:ext uri="{FF2B5EF4-FFF2-40B4-BE49-F238E27FC236}">
                <a16:creationId xmlns:a16="http://schemas.microsoft.com/office/drawing/2014/main" id="{91B93923-A64A-2DA9-C649-5312EC6B317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809150" y="3742975"/>
            <a:ext cx="2599849" cy="28032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CD62F0-59AB-EF20-5611-BDE4A245ED81}"/>
              </a:ext>
            </a:extLst>
          </p:cNvPr>
          <p:cNvSpPr txBox="1"/>
          <p:nvPr/>
        </p:nvSpPr>
        <p:spPr>
          <a:xfrm>
            <a:off x="349649" y="356414"/>
            <a:ext cx="89604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DC5FA"/>
                </a:solidFill>
                <a:latin typeface="Roboto"/>
                <a:ea typeface="Roboto"/>
                <a:cs typeface="Roboto"/>
                <a:sym typeface="Roboto"/>
              </a:rPr>
              <a:t>Finding 1: Performance Depends on More Than One Metric</a:t>
            </a:r>
            <a:endParaRPr lang="en-US" sz="2400" b="1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7EC960-0167-FC25-B88F-F87F77D9E325}"/>
              </a:ext>
            </a:extLst>
          </p:cNvPr>
          <p:cNvSpPr txBox="1"/>
          <p:nvPr/>
        </p:nvSpPr>
        <p:spPr>
          <a:xfrm>
            <a:off x="334587" y="4472331"/>
            <a:ext cx="58063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600" b="1" dirty="0">
                <a:solidFill>
                  <a:srgbClr val="00B0F0"/>
                </a:solidFill>
              </a:rPr>
              <a:t>No single metric is enough to identify the best system.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3EB10C-8D18-FBD2-3790-E09655403E02}"/>
              </a:ext>
            </a:extLst>
          </p:cNvPr>
          <p:cNvSpPr txBox="1"/>
          <p:nvPr/>
        </p:nvSpPr>
        <p:spPr>
          <a:xfrm>
            <a:off x="352782" y="958242"/>
            <a:ext cx="55366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/>
              <a:t>How does performance vary across catalyst–product combinations?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A00C05-DD0B-2146-BD34-2FB714610F2F}"/>
              </a:ext>
            </a:extLst>
          </p:cNvPr>
          <p:cNvSpPr txBox="1"/>
          <p:nvPr/>
        </p:nvSpPr>
        <p:spPr>
          <a:xfrm>
            <a:off x="6222394" y="1587337"/>
            <a:ext cx="2585905" cy="199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dirty="0"/>
              <a:t>FE and current density vary widely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dirty="0"/>
              <a:t>High FE does not always mean high current density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dirty="0"/>
              <a:t>Some averages are based  on few observations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155C5A-22B3-5CE3-2721-9A7A448BCF56}"/>
              </a:ext>
            </a:extLst>
          </p:cNvPr>
          <p:cNvSpPr txBox="1"/>
          <p:nvPr/>
        </p:nvSpPr>
        <p:spPr>
          <a:xfrm>
            <a:off x="6358966" y="4386976"/>
            <a:ext cx="24447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000" dirty="0"/>
              <a:t>Catalyst–product combination = catalyst + product produced (eg. Ag-CO)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3ECE2DA-7590-5460-6463-A0E6243B23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391" y="894490"/>
            <a:ext cx="5654046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1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9">
          <a:extLst>
            <a:ext uri="{FF2B5EF4-FFF2-40B4-BE49-F238E27FC236}">
              <a16:creationId xmlns:a16="http://schemas.microsoft.com/office/drawing/2014/main" id="{A3FC88D9-6083-0369-2E12-2724CD149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">
            <a:extLst>
              <a:ext uri="{FF2B5EF4-FFF2-40B4-BE49-F238E27FC236}">
                <a16:creationId xmlns:a16="http://schemas.microsoft.com/office/drawing/2014/main" id="{413E6A8A-F836-9A04-E891-FDDE200A7F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809150" y="3742975"/>
            <a:ext cx="2599849" cy="28032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052478-A8EE-11C4-E7A5-1631937A6F68}"/>
              </a:ext>
            </a:extLst>
          </p:cNvPr>
          <p:cNvSpPr txBox="1"/>
          <p:nvPr/>
        </p:nvSpPr>
        <p:spPr>
          <a:xfrm>
            <a:off x="334587" y="356414"/>
            <a:ext cx="81693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DC5FA"/>
                </a:solidFill>
                <a:latin typeface="Roboto"/>
                <a:ea typeface="Roboto"/>
                <a:cs typeface="Roboto"/>
                <a:sym typeface="Roboto"/>
              </a:rPr>
              <a:t>Key Finding 2: Screening Narrows the Choices</a:t>
            </a:r>
            <a:endParaRPr lang="en-US" sz="2400" b="1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42B41D-5E12-12A5-2470-4DA06D58E5BB}"/>
              </a:ext>
            </a:extLst>
          </p:cNvPr>
          <p:cNvSpPr txBox="1"/>
          <p:nvPr/>
        </p:nvSpPr>
        <p:spPr>
          <a:xfrm>
            <a:off x="334587" y="4448532"/>
            <a:ext cx="70299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600" b="1" dirty="0">
                <a:solidFill>
                  <a:srgbClr val="00B0F0"/>
                </a:solidFill>
              </a:rPr>
              <a:t>Performance and cost screening reduced the choices to 4 systems.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4EFA0C-A7EA-7852-4583-785CB0553835}"/>
              </a:ext>
            </a:extLst>
          </p:cNvPr>
          <p:cNvSpPr txBox="1"/>
          <p:nvPr/>
        </p:nvSpPr>
        <p:spPr>
          <a:xfrm>
            <a:off x="334588" y="1000467"/>
            <a:ext cx="5811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dirty="0"/>
              <a:t>Which combinations perform well across all three criteria?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828DD9C-8062-A061-61F2-BF0A356DBD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871" y="1064532"/>
            <a:ext cx="5314809" cy="3384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89E6D93-B1D3-34E4-DE25-2FC6473E0620}"/>
              </a:ext>
            </a:extLst>
          </p:cNvPr>
          <p:cNvSpPr txBox="1"/>
          <p:nvPr/>
        </p:nvSpPr>
        <p:spPr>
          <a:xfrm>
            <a:off x="5691680" y="1711707"/>
            <a:ext cx="3159641" cy="1720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Only 4 combinations met all three criteria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Ir–HCOOH had the highest FE among the four, with high current density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Ag–CO combined better performance with more supporting observations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0548E5-FD90-900E-29C1-7BE253E5A7F7}"/>
              </a:ext>
            </a:extLst>
          </p:cNvPr>
          <p:cNvSpPr txBox="1"/>
          <p:nvPr/>
        </p:nvSpPr>
        <p:spPr>
          <a:xfrm>
            <a:off x="7489739" y="4448532"/>
            <a:ext cx="13209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800" dirty="0"/>
              <a:t>HCOOH = Formic acid</a:t>
            </a:r>
          </a:p>
          <a:p>
            <a:r>
              <a:rPr lang="en-DE" sz="800" dirty="0"/>
              <a:t>CO = Carbon monooxide</a:t>
            </a:r>
          </a:p>
        </p:txBody>
      </p:sp>
    </p:spTree>
    <p:extLst>
      <p:ext uri="{BB962C8B-B14F-4D97-AF65-F5344CB8AC3E}">
        <p14:creationId xmlns:p14="http://schemas.microsoft.com/office/powerpoint/2010/main" val="100732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9">
          <a:extLst>
            <a:ext uri="{FF2B5EF4-FFF2-40B4-BE49-F238E27FC236}">
              <a16:creationId xmlns:a16="http://schemas.microsoft.com/office/drawing/2014/main" id="{24D88D79-EAD6-EEED-BF8D-AAEF570B3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">
            <a:extLst>
              <a:ext uri="{FF2B5EF4-FFF2-40B4-BE49-F238E27FC236}">
                <a16:creationId xmlns:a16="http://schemas.microsoft.com/office/drawing/2014/main" id="{2224002A-7F07-010D-2698-EBBFD2D289F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809150" y="3742975"/>
            <a:ext cx="2599849" cy="28032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800805-6779-68F5-492A-7039EEDF09C3}"/>
              </a:ext>
            </a:extLst>
          </p:cNvPr>
          <p:cNvSpPr txBox="1"/>
          <p:nvPr/>
        </p:nvSpPr>
        <p:spPr>
          <a:xfrm>
            <a:off x="334587" y="356414"/>
            <a:ext cx="83723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DC5FA"/>
                </a:solidFill>
                <a:latin typeface="Roboto"/>
                <a:ea typeface="Roboto"/>
                <a:cs typeface="Roboto"/>
                <a:sym typeface="Roboto"/>
              </a:rPr>
              <a:t>Finding 3: The Whole System Matters</a:t>
            </a:r>
            <a:endParaRPr lang="en-US" sz="2400" b="1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8243A0-816B-A3D0-2457-5F408B9FA7BE}"/>
              </a:ext>
            </a:extLst>
          </p:cNvPr>
          <p:cNvSpPr txBox="1"/>
          <p:nvPr/>
        </p:nvSpPr>
        <p:spPr>
          <a:xfrm>
            <a:off x="334587" y="942970"/>
            <a:ext cx="64206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DE" dirty="0">
                <a:latin typeface="Arial"/>
              </a:rPr>
              <a:t>How do catalyst, electrolyte, and temperature relate to current density?</a:t>
            </a:r>
            <a:endParaRPr lang="en-DE" dirty="0">
              <a:latin typeface="Courier New" panose="020703090202050204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20E65F-8C85-DD4B-A75D-7B7BB068BD8B}"/>
              </a:ext>
            </a:extLst>
          </p:cNvPr>
          <p:cNvSpPr txBox="1"/>
          <p:nvPr/>
        </p:nvSpPr>
        <p:spPr>
          <a:xfrm>
            <a:off x="270791" y="4528900"/>
            <a:ext cx="67867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DE" b="1" dirty="0">
                <a:solidFill>
                  <a:srgbClr val="00B0F0"/>
                </a:solidFill>
                <a:latin typeface="Arial"/>
              </a:rPr>
              <a:t>Catalyst, electrolyte, and operating conditions must be considered together</a:t>
            </a:r>
            <a:endParaRPr lang="en-DE" b="1" dirty="0">
              <a:solidFill>
                <a:srgbClr val="00B0F0"/>
              </a:solidFill>
              <a:latin typeface="Courier New" panose="02070309020205020404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EC5AC4-9D6B-4FA5-9750-5EA22B95A99B}"/>
              </a:ext>
            </a:extLst>
          </p:cNvPr>
          <p:cNvSpPr txBox="1"/>
          <p:nvPr/>
        </p:nvSpPr>
        <p:spPr>
          <a:xfrm>
            <a:off x="548325" y="3793952"/>
            <a:ext cx="6420631" cy="612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>
                <a:latin typeface="Arial"/>
              </a:rPr>
              <a:t>Ni–YSZ/YSZ and Ni–YSZ/CGO–YSZ had the highest average current densities</a:t>
            </a:r>
          </a:p>
          <a:p>
            <a:pPr marL="171450" indent="-171450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>
                <a:latin typeface="Arial"/>
              </a:rPr>
              <a:t>The same catalyst showed different performance with different electrolytes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4DD39EB-0B5B-BF4A-8FE3-7AB518C484B9}"/>
              </a:ext>
            </a:extLst>
          </p:cNvPr>
          <p:cNvGrpSpPr/>
          <p:nvPr/>
        </p:nvGrpSpPr>
        <p:grpSpPr>
          <a:xfrm>
            <a:off x="4737410" y="935614"/>
            <a:ext cx="3969525" cy="2741240"/>
            <a:chOff x="4706659" y="1143184"/>
            <a:chExt cx="3969525" cy="274124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26F4391-896F-5763-DDC3-B605C226C18C}"/>
                </a:ext>
              </a:extLst>
            </p:cNvPr>
            <p:cNvSpPr txBox="1"/>
            <p:nvPr/>
          </p:nvSpPr>
          <p:spPr>
            <a:xfrm>
              <a:off x="5493487" y="1143184"/>
              <a:ext cx="251397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DE" sz="1200" dirty="0"/>
                <a:t>Systems by temperature group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EEDC1487-1B41-41F0-EDFB-4EED640B8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06659" y="1364424"/>
              <a:ext cx="3969525" cy="252000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1E806C3-4653-DDC2-15A0-C1C6200B245E}"/>
              </a:ext>
            </a:extLst>
          </p:cNvPr>
          <p:cNvGrpSpPr/>
          <p:nvPr/>
        </p:nvGrpSpPr>
        <p:grpSpPr>
          <a:xfrm>
            <a:off x="364215" y="935614"/>
            <a:ext cx="3995134" cy="2746999"/>
            <a:chOff x="329453" y="1338138"/>
            <a:chExt cx="3995134" cy="2746999"/>
          </a:xfrm>
          <a:solidFill>
            <a:schemeClr val="bg1"/>
          </a:solidFill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80F675F-C8E8-D04A-81B7-F7A725964944}"/>
                </a:ext>
              </a:extLst>
            </p:cNvPr>
            <p:cNvSpPr txBox="1"/>
            <p:nvPr/>
          </p:nvSpPr>
          <p:spPr>
            <a:xfrm>
              <a:off x="930161" y="1338138"/>
              <a:ext cx="2793718" cy="276999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r>
                <a:rPr lang="en-DE" sz="1200" dirty="0"/>
                <a:t>Catalyst–electrolyte performance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630DEEF2-8C06-341A-A7CB-3625AF563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9453" y="1565137"/>
              <a:ext cx="3995134" cy="2520000"/>
            </a:xfrm>
            <a:prstGeom prst="rect">
              <a:avLst/>
            </a:prstGeom>
            <a:grpFill/>
          </p:spPr>
        </p:pic>
      </p:grpSp>
    </p:spTree>
    <p:extLst>
      <p:ext uri="{BB962C8B-B14F-4D97-AF65-F5344CB8AC3E}">
        <p14:creationId xmlns:p14="http://schemas.microsoft.com/office/powerpoint/2010/main" val="5465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6" grpId="1"/>
      <p:bldP spid="28" grpId="0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9">
          <a:extLst>
            <a:ext uri="{FF2B5EF4-FFF2-40B4-BE49-F238E27FC236}">
              <a16:creationId xmlns:a16="http://schemas.microsoft.com/office/drawing/2014/main" id="{E581A7D8-2A21-D1E0-9D81-A852B2D4C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">
            <a:extLst>
              <a:ext uri="{FF2B5EF4-FFF2-40B4-BE49-F238E27FC236}">
                <a16:creationId xmlns:a16="http://schemas.microsoft.com/office/drawing/2014/main" id="{85009272-00EC-BA9E-7D4F-60489845B7B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809150" y="3742975"/>
            <a:ext cx="2599849" cy="28032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DA5C71-7A8F-9A87-C28D-ED82075B5505}"/>
              </a:ext>
            </a:extLst>
          </p:cNvPr>
          <p:cNvSpPr txBox="1"/>
          <p:nvPr/>
        </p:nvSpPr>
        <p:spPr>
          <a:xfrm>
            <a:off x="334588" y="356414"/>
            <a:ext cx="49751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DC5FA"/>
                </a:solidFill>
                <a:latin typeface="Roboto"/>
                <a:ea typeface="Roboto"/>
                <a:cs typeface="Roboto"/>
                <a:sym typeface="Roboto"/>
              </a:rPr>
              <a:t>Conclusions</a:t>
            </a:r>
            <a:endParaRPr lang="en-US" sz="2400" b="1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CE71A-6B04-83E3-5141-29FE9C8A58A8}"/>
              </a:ext>
            </a:extLst>
          </p:cNvPr>
          <p:cNvSpPr txBox="1"/>
          <p:nvPr/>
        </p:nvSpPr>
        <p:spPr>
          <a:xfrm>
            <a:off x="490774" y="1211800"/>
            <a:ext cx="8238447" cy="1493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DE" sz="1600" dirty="0"/>
              <a:t>Performance must be judged using several metrics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DE" sz="1600" dirty="0"/>
              <a:t>Only a few systems remained promising after performance and cost screening</a:t>
            </a:r>
          </a:p>
          <a:p>
            <a:pPr marL="285750" lvl="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DE" sz="1600" dirty="0"/>
              <a:t>Catalyst, electrolyte, and operating conditions must be interpreted together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01118B-C731-F689-F644-8CDFDEDCD4B2}"/>
              </a:ext>
            </a:extLst>
          </p:cNvPr>
          <p:cNvSpPr txBox="1"/>
          <p:nvPr/>
        </p:nvSpPr>
        <p:spPr>
          <a:xfrm>
            <a:off x="549839" y="3394291"/>
            <a:ext cx="8120315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DE" sz="1800" b="1" dirty="0">
                <a:solidFill>
                  <a:srgbClr val="00B0F0"/>
                </a:solidFill>
              </a:rPr>
              <a:t>Data-driven screening can turn a large CO₂RR dataset into a smaller set of promising systems for further study.</a:t>
            </a:r>
          </a:p>
        </p:txBody>
      </p:sp>
    </p:spTree>
    <p:extLst>
      <p:ext uri="{BB962C8B-B14F-4D97-AF65-F5344CB8AC3E}">
        <p14:creationId xmlns:p14="http://schemas.microsoft.com/office/powerpoint/2010/main" val="3736307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9">
          <a:extLst>
            <a:ext uri="{FF2B5EF4-FFF2-40B4-BE49-F238E27FC236}">
              <a16:creationId xmlns:a16="http://schemas.microsoft.com/office/drawing/2014/main" id="{1D952CDE-3588-AA24-299A-28B2353AE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">
            <a:extLst>
              <a:ext uri="{FF2B5EF4-FFF2-40B4-BE49-F238E27FC236}">
                <a16:creationId xmlns:a16="http://schemas.microsoft.com/office/drawing/2014/main" id="{6181D79D-9170-2C8B-9B83-C63AA4F6E1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809150" y="3742975"/>
            <a:ext cx="2599849" cy="28032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F3FD0F9-ECFE-CFB4-2E3E-DA61C9CAA6EB}"/>
              </a:ext>
            </a:extLst>
          </p:cNvPr>
          <p:cNvSpPr txBox="1"/>
          <p:nvPr/>
        </p:nvSpPr>
        <p:spPr>
          <a:xfrm>
            <a:off x="334588" y="356414"/>
            <a:ext cx="49751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DC5FA"/>
                </a:solidFill>
                <a:latin typeface="Roboto"/>
                <a:ea typeface="Roboto"/>
                <a:cs typeface="Roboto"/>
                <a:sym typeface="Roboto"/>
              </a:rPr>
              <a:t>Limitations and Next Steps</a:t>
            </a:r>
            <a:endParaRPr lang="en-US" sz="2400" b="1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59649-DB93-28CB-E730-C566FBB98B91}"/>
              </a:ext>
            </a:extLst>
          </p:cNvPr>
          <p:cNvSpPr txBox="1"/>
          <p:nvPr/>
        </p:nvSpPr>
        <p:spPr>
          <a:xfrm>
            <a:off x="357447" y="1239983"/>
            <a:ext cx="3912895" cy="1766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DE" b="1" dirty="0"/>
              <a:t>Limitations</a:t>
            </a:r>
          </a:p>
          <a:p>
            <a:pPr algn="just">
              <a:lnSpc>
                <a:spcPct val="150000"/>
              </a:lnSpc>
            </a:pPr>
            <a:endParaRPr lang="en-DE" sz="1200" dirty="0"/>
          </a:p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The studies used different experimental conditions</a:t>
            </a:r>
          </a:p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Some groups have only a few data points</a:t>
            </a:r>
          </a:p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Voltage and FE were not reported together in the second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CEC9DD-7109-4694-267B-E2FE8AF2A585}"/>
              </a:ext>
            </a:extLst>
          </p:cNvPr>
          <p:cNvSpPr txBox="1"/>
          <p:nvPr/>
        </p:nvSpPr>
        <p:spPr>
          <a:xfrm>
            <a:off x="413237" y="4086413"/>
            <a:ext cx="8373316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DE" sz="1600" b="1" dirty="0">
                <a:solidFill>
                  <a:srgbClr val="00B0F0"/>
                </a:solidFill>
              </a:rPr>
              <a:t>More consistent data will allow better comparisons and more reliable predictions.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A194A8-532E-8530-F424-2D3BCEFD59D6}"/>
              </a:ext>
            </a:extLst>
          </p:cNvPr>
          <p:cNvSpPr txBox="1"/>
          <p:nvPr/>
        </p:nvSpPr>
        <p:spPr>
          <a:xfrm>
            <a:off x="4572000" y="1239983"/>
            <a:ext cx="4214553" cy="1743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DE" b="1" dirty="0"/>
              <a:t>Next Steps</a:t>
            </a:r>
          </a:p>
          <a:p>
            <a:pPr>
              <a:lnSpc>
                <a:spcPct val="150000"/>
              </a:lnSpc>
            </a:pPr>
            <a:endParaRPr lang="en-DE" sz="1200" dirty="0"/>
          </a:p>
          <a:p>
            <a:pPr marL="171450" lvl="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Add more studies with similar experimental conditions</a:t>
            </a:r>
          </a:p>
          <a:p>
            <a:pPr marL="171450" lvl="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Compare full data ranges, not only averages</a:t>
            </a:r>
          </a:p>
          <a:p>
            <a:pPr marL="171450" lvl="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DE" sz="1200" dirty="0"/>
              <a:t>Explore simple statistical and machine-learning models</a:t>
            </a:r>
          </a:p>
        </p:txBody>
      </p:sp>
    </p:spTree>
    <p:extLst>
      <p:ext uri="{BB962C8B-B14F-4D97-AF65-F5344CB8AC3E}">
        <p14:creationId xmlns:p14="http://schemas.microsoft.com/office/powerpoint/2010/main" val="145452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/>
        </p:nvSpPr>
        <p:spPr>
          <a:xfrm>
            <a:off x="311700" y="1264700"/>
            <a:ext cx="8520600" cy="4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2400" b="1" i="0" u="none" strike="noStrike" cap="none" dirty="0">
                <a:solidFill>
                  <a:srgbClr val="00B0F0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" sz="1800" dirty="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18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40"/>
          <p:cNvSpPr txBox="1"/>
          <p:nvPr/>
        </p:nvSpPr>
        <p:spPr>
          <a:xfrm>
            <a:off x="311700" y="2868245"/>
            <a:ext cx="85206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DE" dirty="0"/>
              <a:t>Bright Jaato</a:t>
            </a:r>
          </a:p>
          <a:p>
            <a:pPr algn="ctr"/>
            <a:r>
              <a:rPr lang="en-DE" dirty="0"/>
              <a:t>Data Science &amp; Machine Learning </a:t>
            </a:r>
          </a:p>
        </p:txBody>
      </p:sp>
      <p:pic>
        <p:nvPicPr>
          <p:cNvPr id="208" name="Google Shape;208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86563" y="1376603"/>
            <a:ext cx="1570875" cy="157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22675" y="-1087175"/>
            <a:ext cx="2599849" cy="280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809150" y="3742975"/>
            <a:ext cx="2599849" cy="28032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07;p40">
            <a:extLst>
              <a:ext uri="{FF2B5EF4-FFF2-40B4-BE49-F238E27FC236}">
                <a16:creationId xmlns:a16="http://schemas.microsoft.com/office/drawing/2014/main" id="{94CC5659-27A9-13F4-9EA4-C2053A8075B1}"/>
              </a:ext>
            </a:extLst>
          </p:cNvPr>
          <p:cNvSpPr txBox="1"/>
          <p:nvPr/>
        </p:nvSpPr>
        <p:spPr>
          <a:xfrm>
            <a:off x="464100" y="3452907"/>
            <a:ext cx="85206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DE" dirty="0"/>
              <a:t>From complex CO</a:t>
            </a:r>
            <a:r>
              <a:rPr lang="en-DE" baseline="-25000" dirty="0"/>
              <a:t>2</a:t>
            </a:r>
            <a:r>
              <a:rPr lang="en-DE" dirty="0"/>
              <a:t>RR literature to structured, data-driven insight</a:t>
            </a:r>
          </a:p>
        </p:txBody>
      </p:sp>
      <p:pic>
        <p:nvPicPr>
          <p:cNvPr id="3" name="Picture 2">
            <a:hlinkClick r:id="rId6"/>
            <a:extLst>
              <a:ext uri="{FF2B5EF4-FFF2-40B4-BE49-F238E27FC236}">
                <a16:creationId xmlns:a16="http://schemas.microsoft.com/office/drawing/2014/main" id="{EACAF1A6-E29F-4653-C6D9-50EDCB5570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627" y="4184978"/>
            <a:ext cx="540000" cy="540000"/>
          </a:xfrm>
          <a:prstGeom prst="rect">
            <a:avLst/>
          </a:prstGeom>
        </p:spPr>
      </p:pic>
      <p:pic>
        <p:nvPicPr>
          <p:cNvPr id="4" name="Picture 3">
            <a:hlinkClick r:id="rId8"/>
            <a:extLst>
              <a:ext uri="{FF2B5EF4-FFF2-40B4-BE49-F238E27FC236}">
                <a16:creationId xmlns:a16="http://schemas.microsoft.com/office/drawing/2014/main" id="{5C2E4FCE-ADD9-5372-BD83-174FE689F6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3058" y="4184978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5066</TotalTime>
  <Words>789</Words>
  <Application>Microsoft Macintosh PowerPoint</Application>
  <PresentationFormat>On-screen Show (16:9)</PresentationFormat>
  <Paragraphs>118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Roboto</vt:lpstr>
      <vt:lpstr>Courier New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David Henriques</dc:creator>
  <cp:lastModifiedBy>Bright Jaato</cp:lastModifiedBy>
  <cp:revision>21</cp:revision>
  <dcterms:modified xsi:type="dcterms:W3CDTF">2026-10-02T13:56:11Z</dcterms:modified>
</cp:coreProperties>
</file>